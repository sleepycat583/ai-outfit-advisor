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01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746C"/>
                </a:solidFill>
                <a:latin typeface="Arial"/>
              </a:defRPr>
            </a:pPr>
            <a:r>
              <a:t>2026 未来大学联盟 · 新工科赛道 · 校内选拔赛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800" b="1">
                <a:solidFill>
                  <a:srgbClr val="E8A87C"/>
                </a:solidFill>
                <a:latin typeface="Arial"/>
              </a:defRPr>
            </a:pPr>
            <a:r>
              <a:t>小衣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ECE4"/>
                </a:solidFill>
                <a:latin typeface="Arial"/>
              </a:defRPr>
            </a:pPr>
            <a:r>
              <a:t>基于大模型与 RAG 的大学生智能穿搭顾问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A99E"/>
                </a:solidFill>
                <a:latin typeface="Arial"/>
              </a:defRPr>
            </a:pPr>
            <a:r>
              <a:t>未来大学联盟    |    队员：[待填写]    |    2026.05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21810"/>
          </a:solidFill>
          <a:ln w="12700">
            <a:solidFill>
              <a:srgbClr val="403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E8A87C"/>
                </a:solidFill>
                <a:latin typeface="Arial"/>
              </a:defRPr>
            </a:pPr>
            <a:r>
              <a:t>LangChain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5212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21810"/>
          </a:solidFill>
          <a:ln w="12700">
            <a:solidFill>
              <a:srgbClr val="403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E8A87C"/>
                </a:solidFill>
                <a:latin typeface="Arial"/>
              </a:defRPr>
            </a:pPr>
            <a:r>
              <a:t>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5212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21810"/>
          </a:solidFill>
          <a:ln w="12700">
            <a:solidFill>
              <a:srgbClr val="403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E8A87C"/>
                </a:solidFill>
                <a:latin typeface="Arial"/>
              </a:defRPr>
            </a:pPr>
            <a: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5212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21810"/>
          </a:solidFill>
          <a:ln w="12700">
            <a:solidFill>
              <a:srgbClr val="403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E8A87C"/>
                </a:solidFill>
                <a:latin typeface="Arial"/>
              </a:defRPr>
            </a:pPr>
            <a:r>
              <a:t>Chroma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212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21810"/>
          </a:solidFill>
          <a:ln w="12700">
            <a:solidFill>
              <a:srgbClr val="403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E8A87C"/>
                </a:solidFill>
                <a:latin typeface="Arial"/>
              </a:defRPr>
            </a:pPr>
            <a:r>
              <a:t>Qwen3-max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52120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221810"/>
          </a:solidFill>
          <a:ln w="12700">
            <a:solidFill>
              <a:srgbClr val="403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E8A87C"/>
                </a:solidFill>
                <a:latin typeface="Arial"/>
              </a:defRPr>
            </a:pPr>
            <a:r>
              <a:t>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02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汇报大纲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6400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01    问题与痛点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     大学生穿搭困境与市场现状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6400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02    解决方案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     产品定位与核心功能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5212080" cy="6400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03    技术架构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     RAG + LangChain + Agent 全链路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487168"/>
            <a:ext cx="5212080" cy="6400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04    核心技术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     三大技术亮点深度解析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36976"/>
            <a:ext cx="5212080" cy="6400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05    知识库与数据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     2026 春夏流行趋势与知识管理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36976"/>
            <a:ext cx="5212080" cy="6400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06    创新亮点 &amp; 未来规划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     差异化优势与迭代路线图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03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01 · 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大学生穿搭的四大困境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800" cy="960120"/>
          </a:xfrm>
          <a:prstGeom prst="roundRect">
            <a:avLst/>
          </a:prstGeom>
          <a:solidFill>
            <a:srgbClr val="E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180E0E"/>
          </a:solidFill>
          <a:ln w="12700">
            <a:solidFill>
              <a:srgbClr val="1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500" b="1">
                <a:solidFill>
                  <a:srgbClr val="F0ECE4"/>
                </a:solidFill>
                <a:latin typeface="Arial"/>
              </a:defRPr>
            </a:pPr>
            <a:r>
              <a:t>01    信息过载，决策瘫痪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  小红书、抖音、淘宝……每天接收海量穿搭信息，但真正要出门时反而不知道该穿什么。面对衣柜站 10 分钟是常态。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0800" cy="960120"/>
          </a:xfrm>
          <a:prstGeom prst="roundRect">
            <a:avLst/>
          </a:prstGeom>
          <a:solidFill>
            <a:srgbClr val="E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83464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180E0E"/>
          </a:solidFill>
          <a:ln w="12700">
            <a:solidFill>
              <a:srgbClr val="1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500" b="1">
                <a:solidFill>
                  <a:srgbClr val="F0ECE4"/>
                </a:solidFill>
                <a:latin typeface="Arial"/>
              </a:defRPr>
            </a:pPr>
            <a:r>
              <a:t>02    场景-天气-风格三重匹配困难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  面试要正式、约会要出彩、早八要速战速决。还得查天气、看温度。三个变量同时考虑，现有工具没有一站式解决方案。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0800" cy="960120"/>
          </a:xfrm>
          <a:prstGeom prst="roundRect">
            <a:avLst/>
          </a:prstGeom>
          <a:solidFill>
            <a:srgbClr val="E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977639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180E0E"/>
          </a:solidFill>
          <a:ln w="12700">
            <a:solidFill>
              <a:srgbClr val="1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500" b="1">
                <a:solidFill>
                  <a:srgbClr val="F0ECE4"/>
                </a:solidFill>
                <a:latin typeface="Arial"/>
              </a:defRPr>
            </a:pPr>
            <a:r>
              <a:t>03    穿搭知识碎片化，缺乏系统指导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  洗涤养护、尺码选择、颜色搭配、体型修饰——这些"穿搭基本功"分散在各处，没有一个地方能一站式查询。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50800" cy="960120"/>
          </a:xfrm>
          <a:prstGeom prst="roundRect">
            <a:avLst/>
          </a:prstGeom>
          <a:solidFill>
            <a:srgbClr val="E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5120640"/>
            <a:ext cx="10515600" cy="960120"/>
          </a:xfrm>
          <a:prstGeom prst="roundRect">
            <a:avLst>
              <a:gd name="adj" fmla="val 8000"/>
            </a:avLst>
          </a:prstGeom>
          <a:solidFill>
            <a:srgbClr val="180E0E"/>
          </a:solidFill>
          <a:ln w="12700">
            <a:solidFill>
              <a:srgbClr val="1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500" b="1">
                <a:solidFill>
                  <a:srgbClr val="F0ECE4"/>
                </a:solidFill>
                <a:latin typeface="Arial"/>
              </a:defRPr>
            </a:pPr>
            <a:r>
              <a:t>04    通用 AI 不懂"你"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  ChatGPT 能推荐穿搭，但它不知道你的身高体重、风格偏好、衣柜里有什么。通用方案的推荐千人一面，缺乏个性化。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04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01 · 市场分析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目标用户与市场潜力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600" b="1">
                <a:solidFill>
                  <a:srgbClr val="E8A87C"/>
                </a:solidFill>
                <a:latin typeface="Arial"/>
              </a:defRPr>
            </a:pPr>
            <a:r>
              <a:t>3,800万+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全国在校大学生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600" b="1">
                <a:solidFill>
                  <a:srgbClr val="7EB8DA"/>
                </a:solidFill>
                <a:latin typeface="Arial"/>
              </a:defRPr>
            </a:pPr>
            <a:r>
              <a:t>87%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关注个人形象的大学生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600" b="1">
                <a:solidFill>
                  <a:srgbClr val="7ED3A4"/>
                </a:solidFill>
                <a:latin typeface="Arial"/>
              </a:defRPr>
            </a:pPr>
            <a:r>
              <a:t>3.2 次/月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人均穿搭类搜索频率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600" b="1">
                <a:solidFill>
                  <a:srgbClr val="B8A4D6"/>
                </a:solidFill>
                <a:latin typeface="Arial"/>
              </a:defRPr>
            </a:pPr>
            <a:r>
              <a:t>¥560亿</a:t>
            </a:r>
          </a:p>
          <a:p>
            <a:pPr algn="ctr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大学生服装市场年规模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640080"/>
          </a:xfrm>
          <a:prstGeom prst="roundRect">
            <a:avLst>
              <a:gd name="adj" fmla="val 8000"/>
            </a:avLst>
          </a:prstGeom>
          <a:solidFill>
            <a:srgbClr val="1A140E"/>
          </a:solidFill>
          <a:ln w="12700">
            <a:solidFill>
              <a:srgbClr val="1A14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400" b="0">
                <a:solidFill>
                  <a:srgbClr val="E8A87C"/>
                </a:solidFill>
                <a:latin typeface="Arial"/>
              </a:defRPr>
            </a:pPr>
            <a:r>
              <a:t>核心发现：大学生群体中，76% 的人表示"经常为穿什么而困扰"，但仅 12% 使用过 AI 工具辅助穿搭决策——这是一个巨大的供需缺口。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🎯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高频刚需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每天都要穿衣服，决策频率远高于其他消费场景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2976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📱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天然数字化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Z 世代习惯在线获取信息，对 AI 产品接受度高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429768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🔄</a:t>
            </a:r>
          </a:p>
          <a:p>
            <a:pPr algn="ctr">
              <a:spcAft>
                <a:spcPts val="2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强复购属性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季节更替、场景变化带来持续的使用需求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05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02 · 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小衣：你的私人穿搭主理人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A99E"/>
                </a:solidFill>
                <a:latin typeface="Arial"/>
              </a:defRPr>
            </a:pPr>
            <a:r>
              <a:t>一个 AI 就够了 —— 她会记住你是谁、了解你的偏好、帮你搜天气、给你专业推荐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🗣️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多轮对话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自然语言交互，支持追问与细化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🌤️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天气感知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Agent 自动联网搜索实时天气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👤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千人千面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性别、风格、体型动态注入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📚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专业知识库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洗涤/尺码/颜色/体型四大领域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3375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⚡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流式输出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逐字渲染，交互体验流畅自然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33756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📤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F0ECE4"/>
                </a:solidFill>
                <a:latin typeface="Arial"/>
              </a:defRPr>
            </a:pPr>
            <a:r>
              <a:t>知识库更新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.txt 一键上传，自动向量化入库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06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03 ·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全栈架构：四层解耦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7EB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7EB8DA"/>
                </a:solidFill>
                <a:latin typeface="Arial"/>
              </a:defRPr>
            </a:pPr>
            <a:r>
              <a:t>Streamlit 交互层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50876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7EB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侧边栏穿搭档案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7EB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快捷提问按钮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50876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7EB8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打字机流式渲染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0299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A87C"/>
                </a:solidFill>
                <a:latin typeface="Arial"/>
              </a:defRPr>
            </a:pPr>
            <a:r>
              <a:t>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B8A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B8A4D6"/>
                </a:solidFill>
                <a:latin typeface="Arial"/>
              </a:defRPr>
            </a:pPr>
            <a:r>
              <a:t>LangChain 编排层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1031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B8A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RunnableWithMessageHistory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1031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B8A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AgentExecutor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1031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B8A4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ConsoleLoggingHandler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243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A87C"/>
                </a:solidFill>
                <a:latin typeface="Arial"/>
              </a:defRPr>
            </a:pPr>
            <a:r>
              <a:t>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697480"/>
            <a:ext cx="8229600" cy="347472"/>
          </a:xfrm>
          <a:prstGeom prst="roundRect">
            <a:avLst>
              <a:gd name="adj" fmla="val 8000"/>
            </a:avLst>
          </a:prstGeom>
          <a:solidFill>
            <a:srgbClr val="1E160C"/>
          </a:solidFill>
          <a:ln w="127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100" b="0">
                <a:solidFill>
                  <a:srgbClr val="E8A87C"/>
                </a:solidFill>
                <a:latin typeface="Arial"/>
              </a:defRPr>
            </a:pPr>
            <a:r>
              <a:t>└ Tool: DuckDuckGo  |  Tool: Retriever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71576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A87C"/>
                </a:solidFill>
                <a:latin typeface="Arial"/>
              </a:defRPr>
            </a:pPr>
            <a:r>
              <a:t>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7ED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7ED3A4"/>
                </a:solidFill>
                <a:latin typeface="Arial"/>
              </a:defRPr>
            </a:pPr>
            <a:r>
              <a:t>数据持久层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7889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7ED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Chroma 向量库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7889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7ED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File Chat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3101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A87C"/>
                </a:solidFill>
                <a:latin typeface="Arial"/>
              </a:defRPr>
            </a:pPr>
            <a:r>
              <a:t>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832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100" b="1">
                <a:solidFill>
                  <a:srgbClr val="E8A87C"/>
                </a:solidFill>
                <a:latin typeface="Arial"/>
              </a:defRPr>
            </a:pPr>
            <a:r>
              <a:t>模型服务层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91840" y="338328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Qwen3-max (LLM)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338328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text-embedding-v4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38328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10141A"/>
          </a:solidFill>
          <a:ln w="12700">
            <a:solidFill>
              <a:srgbClr val="E8A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000" b="0">
                <a:solidFill>
                  <a:srgbClr val="F0ECE4"/>
                </a:solidFill>
                <a:latin typeface="Arial"/>
              </a:defRPr>
            </a:pPr>
            <a:r>
              <a:t>DashScope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07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04 · 核心技术一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RAG 检索增强生成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A99E"/>
                </a:solidFill>
                <a:latin typeface="Arial"/>
              </a:defRPr>
            </a:pPr>
            <a:r>
              <a:t>不是"让 AI 猜"，而是"让 AI 查完再回答"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📄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0ECE4"/>
                </a:solidFill>
                <a:latin typeface="Arial"/>
              </a:defRPr>
            </a:pPr>
            <a:r>
              <a:t>知识文档</a:t>
            </a:r>
            <a:br/>
            <a:r>
              <a:t>.txt 原始文本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9044026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A87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9202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✂️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0ECE4"/>
                </a:solidFill>
                <a:latin typeface="Arial"/>
              </a:defRPr>
            </a:pPr>
            <a:r>
              <a:t>文本分割</a:t>
            </a:r>
            <a:br/>
            <a:r>
              <a:t>RecursiveCharacter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90919362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A87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9202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🔢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0ECE4"/>
                </a:solidFill>
                <a:latin typeface="Arial"/>
              </a:defRPr>
            </a:pPr>
            <a:r>
              <a:t>向量嵌入</a:t>
            </a:r>
            <a:br/>
            <a:r>
              <a:t>text-embedding-v4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280384200" y="2194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A87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9202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🗄️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0ECE4"/>
                </a:solidFill>
                <a:latin typeface="Arial"/>
              </a:defRPr>
            </a:pPr>
            <a:r>
              <a:t>Chroma 存储</a:t>
            </a:r>
            <a:br/>
            <a:r>
              <a:t>本地持久化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8A4D6"/>
                </a:solidFill>
                <a:latin typeface="Arial"/>
              </a:defRPr>
            </a:pPr>
            <a:r>
              <a:t>⬇ 用户提问时 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❓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0ECE4"/>
                </a:solidFill>
                <a:latin typeface="Arial"/>
              </a:defRPr>
            </a:pPr>
            <a:r>
              <a:t>用户提问</a:t>
            </a:r>
            <a:br/>
            <a:r>
              <a:t>自然语言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0440260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A87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🔍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0ECE4"/>
                </a:solidFill>
                <a:latin typeface="Arial"/>
              </a:defRPr>
            </a:pPr>
            <a:r>
              <a:t>语义检索</a:t>
            </a:r>
            <a:br/>
            <a:r>
              <a:t>Chroma 相似度匹配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909193620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A87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🧩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0ECE4"/>
                </a:solidFill>
                <a:latin typeface="Arial"/>
              </a:defRPr>
            </a:pPr>
            <a:r>
              <a:t>上下文拼接</a:t>
            </a:r>
            <a:br/>
            <a:r>
              <a:t>检索结果注入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9280384200" y="35661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A87C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200" b="0">
                <a:solidFill>
                  <a:srgbClr val="F0ECE4"/>
                </a:solidFill>
                <a:latin typeface="Arial"/>
              </a:defRPr>
            </a:pPr>
            <a:r>
              <a:t>✨</a:t>
            </a:r>
          </a:p>
          <a:p>
            <a:pPr algn="ctr">
              <a:spcAft>
                <a:spcPts val="600"/>
              </a:spcAft>
              <a:defRPr sz="1100" b="1">
                <a:solidFill>
                  <a:srgbClr val="F0ECE4"/>
                </a:solidFill>
                <a:latin typeface="Arial"/>
              </a:defRPr>
            </a:pPr>
            <a:r>
              <a:t>LLM 生成</a:t>
            </a:r>
            <a:br/>
            <a:r>
              <a:t>Qwen3-max 推理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10698480" cy="640080"/>
          </a:xfrm>
          <a:prstGeom prst="roundRect">
            <a:avLst>
              <a:gd name="adj" fmla="val 8000"/>
            </a:avLst>
          </a:prstGeom>
          <a:solidFill>
            <a:srgbClr val="0E1812"/>
          </a:solidFill>
          <a:ln w="12700">
            <a:solidFill>
              <a:srgbClr val="0E1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200" b="0">
                <a:solidFill>
                  <a:srgbClr val="7ED3A4"/>
                </a:solidFill>
                <a:latin typeface="Arial"/>
              </a:defRPr>
            </a:pPr>
            <a:r>
              <a:t>关键设计：采用 RecursiveCharacterTextSplitter 按自然段落边界分割文本（chunk_size=500, overlap=50），确保语义完整性。检索到的知识片段直接作为 System Prompt 前缀注入。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08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04 · 核心技术二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Agent 联网天气搜索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A99E"/>
                </a:solidFill>
                <a:latin typeface="Arial"/>
              </a:defRPr>
            </a:pPr>
            <a:r>
              <a:t>AI 自主决策：什么时候需要查天气？查什么？怎么用？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🔧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7EB8DA"/>
                </a:solidFill>
                <a:latin typeface="Arial"/>
              </a:defRPr>
            </a:pPr>
            <a:r>
              <a:t>DuckDuckGo Tool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封装为 LangChain Tool，Agent 自主决定调用时机。无需用户手动输入城市——AI 根据上下文推断搜索范围。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🧠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E8A87C"/>
                </a:solidFill>
                <a:latin typeface="Arial"/>
              </a:defRPr>
            </a:pPr>
            <a:r>
              <a:t>自主决策链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"用户问明天面试穿搭" → Agent 判断：需要查天气 → 自动搜索 → 提取温度/天气 → 融入推荐。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164592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📊</a:t>
            </a:r>
          </a:p>
          <a:p>
            <a:pPr algn="ctr">
              <a:spcAft>
                <a:spcPts val="600"/>
              </a:spcAft>
              <a:defRPr sz="1400" b="1">
                <a:solidFill>
                  <a:srgbClr val="7ED3A4"/>
                </a:solidFill>
                <a:latin typeface="Arial"/>
              </a:defRPr>
            </a:pPr>
            <a:r>
              <a:t>结构化注入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搜索结果以结构化格式注入 Prompt：温度范围 + 天气状况 + 湿度 + 风力 → 驱动穿搭决策。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2103120"/>
          </a:xfrm>
          <a:prstGeom prst="roundRect">
            <a:avLst>
              <a:gd name="adj" fmla="val 8000"/>
            </a:avLst>
          </a:prstGeom>
          <a:solidFill>
            <a:srgbClr val="080810"/>
          </a:solidFill>
          <a:ln w="12700">
            <a:solidFill>
              <a:srgbClr val="0808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300"/>
              </a:spcAft>
              <a:defRPr sz="1000" b="0">
                <a:solidFill>
                  <a:srgbClr val="7A746C"/>
                </a:solidFill>
                <a:latin typeface="Consolas"/>
              </a:defRPr>
            </a:pPr>
            <a:r>
              <a:t>&gt; Entering new AgentExecutor chain...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F0ECE4"/>
                </a:solidFill>
                <a:latin typeface="Consolas"/>
              </a:defRPr>
            </a:pPr>
            <a:r>
              <a:t>Question: 明天参加社团面试，求推荐穿搭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7EB8DA"/>
                </a:solidFill>
                <a:latin typeface="Consolas"/>
              </a:defRPr>
            </a:pPr>
            <a:r>
              <a:t>Thought: 用户需要面试穿搭建议，我需要先知道明天的天气情况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E8A87C"/>
                </a:solidFill>
                <a:latin typeface="Consolas"/>
              </a:defRPr>
            </a:pPr>
            <a:r>
              <a:t>Action: duckduckgo_search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B0A99E"/>
                </a:solidFill>
                <a:latin typeface="Consolas"/>
              </a:defRPr>
            </a:pPr>
            <a:r>
              <a:t>Action Input: "北京 2026年5月19日 天气"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7ED3A4"/>
                </a:solidFill>
                <a:latin typeface="Consolas"/>
              </a:defRPr>
            </a:pPr>
            <a:r>
              <a:t>Observation: 晴转多云，15°C ~ 26°C，微风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7A746C"/>
                </a:solidFill>
                <a:latin typeface="Consolas"/>
              </a:defRPr>
            </a:pPr>
            <a:r>
              <a:t>&gt; Finished chain.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09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04 · 核心技术三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底层终端全生命周期管理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A99E"/>
                </a:solidFill>
                <a:latin typeface="Arial"/>
              </a:defRPr>
            </a:pPr>
            <a:r>
              <a:t>从 Agent 启动到链执行完毕，每一毫秒都可追溯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🔍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E8A87C"/>
                </a:solidFill>
                <a:latin typeface="Arial"/>
              </a:defRPr>
            </a:pPr>
            <a:r>
              <a:t>ConsoleLoggingHandler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自定义 LangChain Callback Handler，捕获 Agent 全生命周期事件：on_llm_start / on_tool_start / on_tool_end / on_chain_end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🏗️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7EB8DA"/>
                </a:solidFill>
                <a:latin typeface="Arial"/>
              </a:defRPr>
            </a:pPr>
            <a:r>
              <a:t>架构演进：V1.0 → V1.2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V1.0 在 AgentExecutor 内部注册 Callback，导致日志丢失。V1.2 迁移至 chain.stream 根节点 config 注入，确保全链路覆盖。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🛡️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7ED3A4"/>
                </a:solidFill>
                <a:latin typeface="Arial"/>
              </a:defRPr>
            </a:pPr>
            <a:r>
              <a:t>DashScope 代理绕过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入口处设置 NO_PROXY 环境变量白名单，解决校园网代理导致的 DashScope 连接失败问题。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A87C"/>
                </a:solidFill>
                <a:latin typeface="Arial"/>
              </a:defRPr>
            </a:pPr>
            <a:r>
              <a:t>Callback 注入对比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80E0E"/>
          </a:solidFill>
          <a:ln w="12700">
            <a:solidFill>
              <a:srgbClr val="1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300" b="1">
                <a:solidFill>
                  <a:srgbClr val="E07070"/>
                </a:solidFill>
                <a:latin typeface="Arial"/>
              </a:defRPr>
            </a:pPr>
            <a:r>
              <a:t>❌ V1.0 方案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在 AgentExecutor 构造函数中传入 Callback，仅覆盖 Agent 执行阶段，chain.stream 外层无法感知内部事件。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A87C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84048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0E1812"/>
          </a:solidFill>
          <a:ln w="12700">
            <a:solidFill>
              <a:srgbClr val="0E1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  <a:defRPr sz="1300" b="1">
                <a:solidFill>
                  <a:srgbClr val="7ED3A4"/>
                </a:solidFill>
                <a:latin typeface="Arial"/>
              </a:defRPr>
            </a:pPr>
            <a:r>
              <a:t>✅ V1.2 方案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在 chain.stream() 的 config 参数中注入 Callback，覆盖 RunnableWithMessageHistory → AgentExecutor → Tool 的完整调用链。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10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05 · 知识库与数据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2026 春夏流行趋势 × 知识管理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  <a:defRPr sz="1500" b="1">
                <a:solidFill>
                  <a:srgbClr val="F0ECE4"/>
                </a:solidFill>
                <a:latin typeface="Arial"/>
              </a:defRPr>
            </a:pPr>
            <a:r>
              <a:t>🎨 三大流行风格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Clean Fit    极简智性风 · 质感优先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Y2K    千禧辣妹 · 撞色金属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City Walk    城市漫游 · 山系户外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0ECE4"/>
                </a:solidFill>
                <a:latin typeface="Arial"/>
              </a:defRPr>
            </a:pPr>
          </a:p>
          <a:p>
            <a:pPr algn="l">
              <a:spcAft>
                <a:spcPts val="800"/>
              </a:spcAft>
              <a:defRPr sz="1500" b="1">
                <a:solidFill>
                  <a:srgbClr val="F0ECE4"/>
                </a:solidFill>
                <a:latin typeface="Arial"/>
              </a:defRPr>
            </a:pPr>
            <a:r>
              <a:t>📐 60-30-10 黄金配色法则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60% 主色调  |  30% 辅助色  |  10% 点缀色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32918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  <a:defRPr sz="1500" b="1">
                <a:solidFill>
                  <a:srgbClr val="F0ECE4"/>
                </a:solidFill>
                <a:latin typeface="Arial"/>
              </a:defRPr>
            </a:pPr>
            <a:r>
              <a:t>📚 四大知识库领域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👔 大厂面试穿搭指南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🧥 衣物洗涤养护知识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📏 尺码推荐与体型修饰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   🎨 颜色搭配与流行趋势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F0ECE4"/>
                </a:solidFill>
                <a:latin typeface="Arial"/>
              </a:defRPr>
            </a:pPr>
          </a:p>
          <a:p>
            <a:pPr algn="l">
              <a:spcAft>
                <a:spcPts val="800"/>
              </a:spcAft>
              <a:defRPr sz="1500" b="1">
                <a:solidFill>
                  <a:srgbClr val="F0ECE4"/>
                </a:solidFill>
                <a:latin typeface="Arial"/>
              </a:defRPr>
            </a:pPr>
            <a:r>
              <a:t>🔄 知识库更新机制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   上传 .txt → MD5 去重 → 文本分割 → 向量嵌入 → Chroma 持久化 → 即时可检索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1A140E"/>
          </a:solidFill>
          <a:ln w="12700">
            <a:solidFill>
              <a:srgbClr val="1A14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0">
                <a:solidFill>
                  <a:srgbClr val="E8A87C"/>
                </a:solidFill>
                <a:latin typeface="Arial"/>
              </a:defRPr>
            </a:pPr>
            <a:r>
              <a:t>核心优势：知识库与 Agent 天气搜索双向互补——静态知识查库，动态信息联网，覆盖穿搭决策的全部信息需求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11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05 · 功能演示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核心功能体验流程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👤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E8A87C"/>
                </a:solidFill>
                <a:latin typeface="Arial"/>
              </a:defRPr>
            </a:pPr>
            <a:r>
              <a:t>Step 1: 建立画像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侧边栏选择性别、风格偏好，输入身高体重 → 动态注入 System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💬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7EB8DA"/>
                </a:solidFill>
                <a:latin typeface="Arial"/>
              </a:defRPr>
            </a:pPr>
            <a:r>
              <a:t>Step 2: 自然提问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"明天参加社团面试求推荐穿搭" → 一键发送或自由输入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916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800" b="0">
                <a:solidFill>
                  <a:srgbClr val="F0ECE4"/>
                </a:solidFill>
                <a:latin typeface="Arial"/>
              </a:defRPr>
            </a:pPr>
            <a:r>
              <a:t>✨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7ED3A4"/>
                </a:solidFill>
                <a:latin typeface="Arial"/>
              </a:defRPr>
            </a:pPr>
            <a:r>
              <a:t>Step 3: 智能生成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Agent 搜索天气 → RAG 检索知识 → LLM 生成专业建议 → 流式渲染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698480" cy="2743200"/>
          </a:xfrm>
          <a:prstGeom prst="roundRect">
            <a:avLst>
              <a:gd name="adj" fmla="val 8000"/>
            </a:avLst>
          </a:prstGeom>
          <a:solidFill>
            <a:srgbClr val="080810"/>
          </a:solidFill>
          <a:ln w="12700">
            <a:solidFill>
              <a:srgbClr val="0808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  <a:defRPr sz="1100" b="0">
                <a:solidFill>
                  <a:srgbClr val="7A746C"/>
                </a:solidFill>
                <a:latin typeface="Arial"/>
              </a:defRPr>
            </a:pPr>
            <a:r>
              <a:t>▼ 小衣回答示例（实际输出风格）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E8A87C"/>
                </a:solidFill>
                <a:latin typeface="Arial"/>
              </a:defRPr>
            </a:pPr>
            <a:r>
              <a:t>🎯 场景破冰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明天北京晴转多云，15°C~26°C，微风。社团面试是展现你专业性与个性的关键时刻——既要有仪式感，又不能用力过猛。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E8A87C"/>
                </a:solidFill>
                <a:latin typeface="Arial"/>
              </a:defRPr>
            </a:pPr>
            <a:r>
              <a:t>👔 OOTD 灵感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上装：白色纯棉衬衫（面试永不犯错）→ 配浅灰色 V 领针织背心（增加层次感）</a:t>
            </a:r>
            <a:br/>
            <a:r>
              <a:t>下装：藏青色直筒西裤（Clean Fit 风，修饰腿型）</a:t>
            </a:r>
            <a:br/>
            <a:r>
              <a:t>鞋履：白色低帮帆布鞋（干净利落，不过于正式）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E8A87C"/>
                </a:solidFill>
                <a:latin typeface="Arial"/>
              </a:defRPr>
            </a:pPr>
            <a:r>
              <a:t>💡 私藏贴士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面试前一天把衣服挂烫一下，细节决定第一印象。随身带一块手表，不用很贵，但守时是面试的基本素养。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B8A4D6"/>
                </a:solidFill>
                <a:latin typeface="Arial"/>
              </a:defRPr>
            </a:pPr>
            <a:r>
              <a:t>—— 小衣 · 你的私人穿搭主理人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12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06 · 创新亮点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对比传统方案的四大优势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7070"/>
                </a:solidFill>
                <a:latin typeface="Arial"/>
              </a:defRPr>
            </a:pPr>
            <a:r>
              <a:t>传统穿搭 App / 小红书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389120" cy="1188720"/>
          </a:xfrm>
          <a:prstGeom prst="roundRect">
            <a:avLst>
              <a:gd name="adj" fmla="val 8000"/>
            </a:avLst>
          </a:prstGeom>
          <a:solidFill>
            <a:srgbClr val="180E0E"/>
          </a:solidFill>
          <a:ln w="12700">
            <a:solidFill>
              <a:srgbClr val="1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• 被动浏览，无法主动提问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• 千人一面，没有个性化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• 无法感知实时天气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• 知识分散，不成体系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286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A87C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D3A4"/>
                </a:solidFill>
                <a:latin typeface="Arial"/>
              </a:defRPr>
            </a:pPr>
            <a:r>
              <a:t>小衣 AI 穿搭顾问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920240"/>
            <a:ext cx="4389120" cy="1188720"/>
          </a:xfrm>
          <a:prstGeom prst="roundRect">
            <a:avLst>
              <a:gd name="adj" fmla="val 8000"/>
            </a:avLst>
          </a:prstGeom>
          <a:solidFill>
            <a:srgbClr val="0E1812"/>
          </a:solidFill>
          <a:ln w="12700">
            <a:solidFill>
              <a:srgbClr val="0E1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✓ 自然语言多轮对话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✓ 用户画像动态注入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✓ Agent 实时天气搜索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✓ RAG 系统知识检索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7070"/>
                </a:solidFill>
                <a:latin typeface="Arial"/>
              </a:defRPr>
            </a:pPr>
            <a:r>
              <a:t>通用 AI（ChatGPT 等）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4389120" cy="1188720"/>
          </a:xfrm>
          <a:prstGeom prst="roundRect">
            <a:avLst>
              <a:gd name="adj" fmla="val 8000"/>
            </a:avLst>
          </a:prstGeom>
          <a:solidFill>
            <a:srgbClr val="180E0E"/>
          </a:solidFill>
          <a:ln w="12700">
            <a:solidFill>
              <a:srgbClr val="18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• 没有穿搭领域知识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• 不知道你的身材特征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• 无法获取实时信息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• 回答风格千篇一律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023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8A87C"/>
                </a:solidFill>
                <a:latin typeface="Arial"/>
              </a:defRPr>
            </a:pPr>
            <a: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383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ED3A4"/>
                </a:solidFill>
                <a:latin typeface="Arial"/>
              </a:defRPr>
            </a:pPr>
            <a:r>
              <a:t>小衣 AI 穿搭顾问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657600"/>
            <a:ext cx="4389120" cy="1188720"/>
          </a:xfrm>
          <a:prstGeom prst="roundRect">
            <a:avLst>
              <a:gd name="adj" fmla="val 8000"/>
            </a:avLst>
          </a:prstGeom>
          <a:solidFill>
            <a:srgbClr val="0E1812"/>
          </a:solidFill>
          <a:ln w="12700">
            <a:solidFill>
              <a:srgbClr val="0E18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✓ 四大领域专业知识库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✓ 身高体重风格动态注入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✓ DuckDuckGo 实时搜索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B0A99E"/>
                </a:solidFill>
                <a:latin typeface="Arial"/>
              </a:defRPr>
            </a:pPr>
            <a:r>
              <a:t>✓ 时尚主理人人设语气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1A140E"/>
          </a:solidFill>
          <a:ln w="12700">
            <a:solidFill>
              <a:srgbClr val="1A14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0">
                <a:solidFill>
                  <a:srgbClr val="E8A87C"/>
                </a:solidFill>
                <a:latin typeface="Arial"/>
              </a:defRPr>
            </a:pPr>
            <a:r>
              <a:t>核心壁垒：RAG 知识库 + Agent 联网 + 用户画像 三引擎联动，不是简单套壳，而是从数据层到推理层的完整闭环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13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06 · 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覆盖大学生全场景穿搭需求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💼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面试/实习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互联网 vs 金融 vs 国企，不同行业的着装潜规则，一键获取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💕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约会/联谊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根据约会场景推荐匹配风格的完整 OOTD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9164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⏰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早八/日常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5 分钟快速出门方案，学生党的早晨救星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🎉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社团活动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百团大战、校园晚会——每个活动有对应穿搭策略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15468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🌧️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换季/天气突变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Agent 实时感知温度变化，提醒添衣减衣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154680"/>
            <a:ext cx="3383280" cy="123444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🛒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F0ECE4"/>
                </a:solidFill>
                <a:latin typeface="Arial"/>
              </a:defRPr>
            </a:pPr>
            <a:r>
              <a:t>购物决策辅助</a:t>
            </a:r>
          </a:p>
          <a:p>
            <a:pPr algn="ctr">
              <a:spcAft>
                <a:spcPts val="600"/>
              </a:spcAft>
              <a:defRPr sz="1000" b="0">
                <a:solidFill>
                  <a:srgbClr val="B0A99E"/>
                </a:solidFill>
                <a:latin typeface="Arial"/>
              </a:defRPr>
            </a:pPr>
            <a:r>
              <a:t>"这件衣服配我衣柜里什么好？"——AI 帮你做搭配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457200"/>
          </a:xfrm>
          <a:prstGeom prst="roundRect">
            <a:avLst>
              <a:gd name="adj" fmla="val 8000"/>
            </a:avLst>
          </a:prstGeom>
          <a:solidFill>
            <a:srgbClr val="0C141A"/>
          </a:solidFill>
          <a:ln w="12700">
            <a:solidFill>
              <a:srgbClr val="0C1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0">
                <a:solidFill>
                  <a:srgbClr val="7EB8DA"/>
                </a:solidFill>
                <a:latin typeface="Arial"/>
              </a:defRPr>
            </a:pPr>
            <a:r>
              <a:t>用户反馈："以前面试前刷一小时小红书，现在问小衣 30 秒就搞定了" —— 内测用户 @某 211 高校大三学生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14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Part 06 · 未来规划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功能迭代路线图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965960"/>
            <a:ext cx="10058400" cy="12700"/>
          </a:xfrm>
          <a:prstGeom prst="roundRect">
            <a:avLst>
              <a:gd name="adj" fmla="val 8000"/>
            </a:avLst>
          </a:prstGeom>
          <a:solidFill>
            <a:srgbClr val="25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03120" y="1874519"/>
            <a:ext cx="201168" cy="201168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A87C"/>
                </a:solidFill>
                <a:latin typeface="Arial"/>
              </a:defRPr>
            </a:pPr>
            <a:r>
              <a:t>V1.2  当前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A99E"/>
                </a:solidFill>
                <a:latin typeface="Arial"/>
              </a:defRPr>
            </a:pPr>
            <a:r>
              <a:t>Agent 天气搜索</a:t>
            </a:r>
            <a:br/>
            <a:r>
              <a:t>Callback 架构升级</a:t>
            </a:r>
            <a:br/>
            <a:r>
              <a:t>2026 春夏知识库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874519"/>
            <a:ext cx="201168" cy="201168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A87C"/>
                </a:solidFill>
                <a:latin typeface="Arial"/>
              </a:defRPr>
            </a:pPr>
            <a:r>
              <a:t>V2.0  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423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A99E"/>
                </a:solidFill>
                <a:latin typeface="Arial"/>
              </a:defRPr>
            </a:pPr>
            <a:r>
              <a:t>多模态输入</a:t>
            </a:r>
            <a:br/>
            <a:r>
              <a:t>上传照片分析穿搭</a:t>
            </a:r>
            <a:br/>
            <a:r>
              <a:t>虚拟试穿预览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874519"/>
            <a:ext cx="201168" cy="201168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A87C"/>
                </a:solidFill>
                <a:latin typeface="Arial"/>
              </a:defRPr>
            </a:pPr>
            <a:r>
              <a:t>V2.5  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A99E"/>
                </a:solidFill>
                <a:latin typeface="Arial"/>
              </a:defRPr>
            </a:pPr>
            <a:r>
              <a:t>衣橱数字化</a:t>
            </a:r>
            <a:br/>
            <a:r>
              <a:t>拍照录入已有衣物</a:t>
            </a:r>
            <a:br/>
            <a:r>
              <a:t>基于衣橱智能搭配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1874519"/>
            <a:ext cx="201168" cy="201168"/>
          </a:xfrm>
          <a:prstGeom prst="roundRect">
            <a:avLst/>
          </a:prstGeom>
          <a:solidFill>
            <a:srgbClr val="25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A746C"/>
                </a:solidFill>
                <a:latin typeface="Arial"/>
              </a:defRPr>
            </a:pPr>
            <a:r>
              <a:t>V3.0 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24231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746C"/>
                </a:solidFill>
                <a:latin typeface="Arial"/>
              </a:defRPr>
            </a:pPr>
            <a:r>
              <a:t>社区化 + 电商</a:t>
            </a:r>
            <a:br/>
            <a:r>
              <a:t>用户穿搭分享</a:t>
            </a:r>
            <a:br/>
            <a:r>
              <a:t>一键购买推荐单品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🖼️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7EB8DA"/>
                </a:solidFill>
                <a:latin typeface="Arial"/>
              </a:defRPr>
            </a:pPr>
            <a:r>
              <a:t>多模态 V2.0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支持上传穿搭照片，AI 分析并给出改进建议。集成虚拟试穿能力。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65760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👗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E8A87C"/>
                </a:solidFill>
                <a:latin typeface="Arial"/>
              </a:defRPr>
            </a:pPr>
            <a:r>
              <a:t>衣橱数字化 V2.5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拍照识别已有衣物，构建个人数字衣橱。AI 基于实际衣橱做搭配。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57600"/>
            <a:ext cx="3383280" cy="1554480"/>
          </a:xfrm>
          <a:prstGeom prst="roundRect">
            <a:avLst>
              <a:gd name="adj" fmla="val 8000"/>
            </a:avLst>
          </a:prstGeom>
          <a:solidFill>
            <a:srgbClr val="12121C"/>
          </a:solidFill>
          <a:ln w="12700">
            <a:solidFill>
              <a:srgbClr val="30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🌐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7ED3A4"/>
                </a:solidFill>
                <a:latin typeface="Arial"/>
              </a:defRPr>
            </a:pPr>
            <a:r>
              <a:t>社区 + 电商 V3.0</a:t>
            </a:r>
          </a:p>
          <a:p>
            <a:pPr algn="ctr">
              <a:spcAft>
                <a:spcPts val="600"/>
              </a:spcAft>
              <a:defRPr sz="1100" b="0">
                <a:solidFill>
                  <a:srgbClr val="B0A99E"/>
                </a:solidFill>
                <a:latin typeface="Arial"/>
              </a:defRPr>
            </a:pPr>
            <a:r>
              <a:t>穿搭方案一键分享，构建大学生穿搭社区。智能推荐购买链接。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15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746C"/>
                </a:solidFill>
                <a:latin typeface="Arial"/>
              </a:defRPr>
            </a:pPr>
            <a:r>
              <a:t>团队介绍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0ECE4"/>
                </a:solidFill>
                <a:latin typeface="Arial"/>
              </a:defRPr>
            </a:pPr>
            <a:r>
              <a:t>关于我们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828800"/>
            <a:ext cx="822960" cy="82296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👨‍💻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4"/>
                </a:solidFill>
                <a:latin typeface="Arial"/>
              </a:defRPr>
            </a:pPr>
            <a:r>
              <a:t>[队员一]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A87C"/>
                </a:solidFill>
                <a:latin typeface="Arial"/>
              </a:defRPr>
            </a:pPr>
            <a:r>
              <a:t>项目负责人 · 全栈开发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A99E"/>
                </a:solidFill>
                <a:latin typeface="Arial"/>
              </a:defRPr>
            </a:pPr>
            <a:r>
              <a:t>负责 LangChain Agent 架构设计与 RAG 系统搭建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828800"/>
            <a:ext cx="822960" cy="82296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👩‍🎨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4"/>
                </a:solidFill>
                <a:latin typeface="Arial"/>
              </a:defRPr>
            </a:pPr>
            <a:r>
              <a:t>[队员二]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63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A87C"/>
                </a:solidFill>
                <a:latin typeface="Arial"/>
              </a:defRPr>
            </a:pPr>
            <a:r>
              <a:t>UI/UX · 前端开发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A99E"/>
                </a:solidFill>
                <a:latin typeface="Arial"/>
              </a:defRPr>
            </a:pPr>
            <a:r>
              <a:t>负责 Streamlit 前端交互设计与打字机流式渲染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828800"/>
            <a:ext cx="822960" cy="822960"/>
          </a:xfrm>
          <a:prstGeom prst="roundRect">
            <a:avLst/>
          </a:prstGeom>
          <a:solidFill>
            <a:srgbClr val="E8A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2400" b="0">
                <a:solidFill>
                  <a:srgbClr val="F0ECE4"/>
                </a:solidFill>
                <a:latin typeface="Arial"/>
              </a:defRPr>
            </a:pPr>
            <a:r>
              <a:t>👩‍🔬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0ECE4"/>
                </a:solidFill>
                <a:latin typeface="Arial"/>
              </a:defRPr>
            </a:pPr>
            <a:r>
              <a:t>[队员三]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63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A87C"/>
                </a:solidFill>
                <a:latin typeface="Arial"/>
              </a:defRPr>
            </a:pPr>
            <a:r>
              <a:t>知识库 · 数据工程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37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A99E"/>
                </a:solidFill>
                <a:latin typeface="Arial"/>
              </a:defRPr>
            </a:pPr>
            <a:r>
              <a:t>负责穿搭知识库构建、流行趋势分析与数据标注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A87C"/>
                </a:solidFill>
                <a:latin typeface="Consolas"/>
              </a:defRPr>
            </a:pPr>
            <a:r>
              <a:t>GitHub: github.com/sleepycat583/ai-outfit-advisor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A99E"/>
                </a:solidFill>
                <a:latin typeface="Arial"/>
              </a:defRPr>
            </a:pPr>
            <a:r>
              <a:t>技术栈: Python · LangChain · Chroma · Streamlit · DashScope · DuckDuckGo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07040" y="182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746C"/>
                </a:solidFill>
                <a:latin typeface="Arial"/>
              </a:defRPr>
            </a:pPr>
            <a:r>
              <a:t>16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E8A87C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0ECE4"/>
                </a:solidFill>
                <a:latin typeface="Arial"/>
              </a:defRPr>
            </a:pPr>
            <a:r>
              <a:t>小衣 · 你的私人穿搭主理人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746C"/>
                </a:solidFill>
                <a:latin typeface="Arial"/>
              </a:defRPr>
            </a:pPr>
            <a:r>
              <a:t>基于大模型与 RAG 的大学生智能穿搭顾问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A87C"/>
                </a:solidFill>
                <a:latin typeface="Consolas"/>
              </a:defRPr>
            </a:pPr>
            <a:r>
              <a:t>github.com/sleepycat583/ai-outfit-advisor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A87C"/>
                </a:solidFill>
                <a:latin typeface="Arial"/>
              </a:defRPr>
            </a:pPr>
            <a:r>
              <a:t>Q &amp;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A99E"/>
                </a:solidFill>
                <a:latin typeface="Arial"/>
              </a:defRPr>
            </a:pPr>
            <a:r>
              <a:t>欢迎评委老师提问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